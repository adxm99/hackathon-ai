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Gilda Display" panose="02000000000000000000" pitchFamily="2" charset="77"/>
      <p:regular r:id="rId14"/>
    </p:embeddedFont>
    <p:embeddedFont>
      <p:font typeface="HK Grotesk" pitchFamily="2" charset="77"/>
      <p:regular r:id="rId15"/>
    </p:embeddedFont>
    <p:embeddedFont>
      <p:font typeface="HK Grotesk Bold" pitchFamily="2" charset="77"/>
      <p:regular r:id="rId16"/>
      <p:bold r:id="rId17"/>
    </p:embeddedFont>
    <p:embeddedFont>
      <p:font typeface="HK Grotesk Light" pitchFamily="2" charset="77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89" autoAdjust="0"/>
  </p:normalViewPr>
  <p:slideViewPr>
    <p:cSldViewPr>
      <p:cViewPr varScale="1">
        <p:scale>
          <a:sx n="80" d="100"/>
          <a:sy n="80" d="100"/>
        </p:scale>
        <p:origin x="82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11225" y="6787402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8629650" cy="8953500"/>
            <a:chOff x="0" y="0"/>
            <a:chExt cx="1336959" cy="13871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36959" cy="1387131"/>
            </a:xfrm>
            <a:custGeom>
              <a:avLst/>
              <a:gdLst/>
              <a:ahLst/>
              <a:cxnLst/>
              <a:rect l="l" t="t" r="r" b="b"/>
              <a:pathLst>
                <a:path w="1336959" h="1387131">
                  <a:moveTo>
                    <a:pt x="35885" y="0"/>
                  </a:moveTo>
                  <a:lnTo>
                    <a:pt x="1301073" y="0"/>
                  </a:lnTo>
                  <a:cubicBezTo>
                    <a:pt x="1310591" y="0"/>
                    <a:pt x="1319718" y="3781"/>
                    <a:pt x="1326448" y="10511"/>
                  </a:cubicBezTo>
                  <a:cubicBezTo>
                    <a:pt x="1333178" y="17240"/>
                    <a:pt x="1336959" y="26368"/>
                    <a:pt x="1336959" y="35885"/>
                  </a:cubicBezTo>
                  <a:lnTo>
                    <a:pt x="1336959" y="1351246"/>
                  </a:lnTo>
                  <a:cubicBezTo>
                    <a:pt x="1336959" y="1360764"/>
                    <a:pt x="1333178" y="1369891"/>
                    <a:pt x="1326448" y="1376621"/>
                  </a:cubicBezTo>
                  <a:cubicBezTo>
                    <a:pt x="1319718" y="1383351"/>
                    <a:pt x="1310591" y="1387131"/>
                    <a:pt x="1301073" y="1387131"/>
                  </a:cubicBezTo>
                  <a:lnTo>
                    <a:pt x="35885" y="1387131"/>
                  </a:lnTo>
                  <a:cubicBezTo>
                    <a:pt x="26368" y="1387131"/>
                    <a:pt x="17240" y="1383351"/>
                    <a:pt x="10511" y="1376621"/>
                  </a:cubicBezTo>
                  <a:cubicBezTo>
                    <a:pt x="3781" y="1369891"/>
                    <a:pt x="0" y="1360764"/>
                    <a:pt x="0" y="1351246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blipFill>
              <a:blip r:embed="rId3"/>
              <a:stretch>
                <a:fillRect t="-199" b="-199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34675" y="734717"/>
            <a:ext cx="6886575" cy="4175170"/>
            <a:chOff x="0" y="-47625"/>
            <a:chExt cx="9182100" cy="5566893"/>
          </a:xfrm>
        </p:grpSpPr>
        <p:sp>
          <p:nvSpPr>
            <p:cNvPr id="6" name="TextBox 6"/>
            <p:cNvSpPr txBox="1"/>
            <p:nvPr/>
          </p:nvSpPr>
          <p:spPr>
            <a:xfrm>
              <a:off x="0" y="2540018"/>
              <a:ext cx="9182100" cy="2979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469"/>
                </a:lnSpc>
              </a:pPr>
              <a:r>
                <a:rPr lang="en-US" sz="8469">
                  <a:solidFill>
                    <a:srgbClr val="F0F3F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From Reactive to Proactive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071668"/>
              <a:ext cx="9182100" cy="9340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880"/>
                </a:lnSpc>
              </a:pPr>
              <a:r>
                <a:rPr lang="en-US" sz="4200">
                  <a:solidFill>
                    <a:srgbClr val="67A1D9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Proactive Retention Strategy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9182100" cy="1040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79"/>
                </a:lnSpc>
              </a:pPr>
              <a:r>
                <a:rPr lang="en-US" sz="2199" dirty="0">
                  <a:solidFill>
                    <a:srgbClr val="F0F3F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March 17, 2026, Henri Dargent, Adrien Lim, Adam </a:t>
              </a:r>
              <a:r>
                <a:rPr lang="en-US" sz="2199" dirty="0" err="1">
                  <a:solidFill>
                    <a:srgbClr val="F0F3F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Touchane</a:t>
              </a:r>
              <a:r>
                <a:rPr lang="en-US" sz="2199" dirty="0">
                  <a:solidFill>
                    <a:srgbClr val="F0F3F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, Marwan Hemani, Yassine </a:t>
              </a:r>
              <a:r>
                <a:rPr lang="en-US" sz="2199" dirty="0" err="1">
                  <a:solidFill>
                    <a:srgbClr val="F0F3F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Smach</a:t>
              </a:r>
              <a:endParaRPr lang="en-US" sz="2199" dirty="0">
                <a:solidFill>
                  <a:srgbClr val="F0F3F7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sp>
        <p:nvSpPr>
          <p:cNvPr id="10" name="ZoneTexte 9">
            <a:extLst>
              <a:ext uri="{FF2B5EF4-FFF2-40B4-BE49-F238E27FC236}">
                <a16:creationId xmlns:a16="http://schemas.microsoft.com/office/drawing/2014/main" id="{B5164833-98DA-768F-738C-AC037ED49BBF}"/>
              </a:ext>
            </a:extLst>
          </p:cNvPr>
          <p:cNvSpPr txBox="1"/>
          <p:nvPr/>
        </p:nvSpPr>
        <p:spPr>
          <a:xfrm>
            <a:off x="12689305" y="8823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05025" y="3002297"/>
            <a:ext cx="12639675" cy="3914808"/>
            <a:chOff x="0" y="0"/>
            <a:chExt cx="16852900" cy="5219744"/>
          </a:xfrm>
        </p:grpSpPr>
        <p:sp>
          <p:nvSpPr>
            <p:cNvPr id="3" name="TextBox 3"/>
            <p:cNvSpPr txBox="1"/>
            <p:nvPr/>
          </p:nvSpPr>
          <p:spPr>
            <a:xfrm>
              <a:off x="0" y="171450"/>
              <a:ext cx="16852900" cy="161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F0F3F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Rising Attrition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251244"/>
              <a:ext cx="16852900" cy="1968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F0F3F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Increasing attrition rates threaten </a:t>
              </a:r>
              <a:r>
                <a:rPr lang="en-US" sz="3000" b="1">
                  <a:solidFill>
                    <a:srgbClr val="F0F3F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operational continuity</a:t>
              </a:r>
              <a:r>
                <a:rPr lang="en-US" sz="3000">
                  <a:solidFill>
                    <a:srgbClr val="F0F3F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and expertise retention, with turnover on the rise, highlighting an urgent need for effective solutions that address employee dissatisfaction and engagement.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086063"/>
              <a:ext cx="168529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3000" b="1">
                  <a:solidFill>
                    <a:srgbClr val="67A1D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 Critical Challenge for Our Company</a:t>
              </a:r>
            </a:p>
          </p:txBody>
        </p:sp>
      </p:grpSp>
      <p:sp>
        <p:nvSpPr>
          <p:cNvPr id="6" name="Freeform 6"/>
          <p:cNvSpPr/>
          <p:nvPr/>
        </p:nvSpPr>
        <p:spPr>
          <a:xfrm rot="-1268288">
            <a:off x="14795639" y="5873497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666750"/>
            <a:ext cx="6886575" cy="8953500"/>
            <a:chOff x="0" y="0"/>
            <a:chExt cx="1200275" cy="1560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0275" cy="1560523"/>
            </a:xfrm>
            <a:custGeom>
              <a:avLst/>
              <a:gdLst/>
              <a:ahLst/>
              <a:cxnLst/>
              <a:rect l="l" t="t" r="r" b="b"/>
              <a:pathLst>
                <a:path w="1200275" h="1560523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189" b="-189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8324850" cy="4133849"/>
            <a:chOff x="0" y="0"/>
            <a:chExt cx="11099800" cy="5511799"/>
          </a:xfrm>
        </p:grpSpPr>
        <p:sp>
          <p:nvSpPr>
            <p:cNvPr id="5" name="TextBox 5"/>
            <p:cNvSpPr txBox="1"/>
            <p:nvPr/>
          </p:nvSpPr>
          <p:spPr>
            <a:xfrm>
              <a:off x="0" y="3543299"/>
              <a:ext cx="11099800" cy="1968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F0F3F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Turnover leads to </a:t>
              </a:r>
              <a:r>
                <a:rPr lang="en-US" sz="3000" b="1">
                  <a:solidFill>
                    <a:srgbClr val="F0F3F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critical skill loss</a:t>
              </a:r>
              <a:r>
                <a:rPr lang="en-US" sz="3000">
                  <a:solidFill>
                    <a:srgbClr val="F0F3F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, production delays, and lengthy training cycles, jeopardizing overall operational efficiency.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1450"/>
              <a:ext cx="11099800" cy="30983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F0F3F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Impact on Operations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13832">
            <a:off x="-4531687" y="6137129"/>
            <a:ext cx="8157874" cy="9711754"/>
          </a:xfrm>
          <a:custGeom>
            <a:avLst/>
            <a:gdLst/>
            <a:ahLst/>
            <a:cxnLst/>
            <a:rect l="l" t="t" r="r" b="b"/>
            <a:pathLst>
              <a:path w="8157874" h="9711754">
                <a:moveTo>
                  <a:pt x="0" y="0"/>
                </a:moveTo>
                <a:lnTo>
                  <a:pt x="8157874" y="0"/>
                </a:lnTo>
                <a:lnTo>
                  <a:pt x="8157874" y="9711754"/>
                </a:lnTo>
                <a:lnTo>
                  <a:pt x="0" y="97117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666750" y="838200"/>
            <a:ext cx="16954500" cy="1166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>
                <a:solidFill>
                  <a:srgbClr val="F0F3F7"/>
                </a:solidFill>
                <a:latin typeface="Gilda Display"/>
                <a:ea typeface="Gilda Display"/>
                <a:cs typeface="Gilda Display"/>
                <a:sym typeface="Gilda Display"/>
              </a:rPr>
              <a:t>From Reactive to Proactive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96400" y="5143500"/>
            <a:ext cx="8324850" cy="3276600"/>
            <a:chOff x="0" y="0"/>
            <a:chExt cx="11099800" cy="4368800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110998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67A1D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Key Indicators of Risk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39900"/>
              <a:ext cx="11099800" cy="2628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F0F3F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Declining employee satisfaction levels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F0F3F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Reduced team engagement scores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F0F3F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Limited career growth opportunities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F0F3F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Increased turnover intentions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1562100"/>
            <a:ext cx="6886575" cy="5372100"/>
            <a:chOff x="0" y="0"/>
            <a:chExt cx="1200275" cy="9363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0275" cy="936314"/>
            </a:xfrm>
            <a:custGeom>
              <a:avLst/>
              <a:gdLst/>
              <a:ahLst/>
              <a:cxnLst/>
              <a:rect l="l" t="t" r="r" b="b"/>
              <a:pathLst>
                <a:path w="1200275" h="936314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891345"/>
                  </a:lnTo>
                  <a:cubicBezTo>
                    <a:pt x="1200275" y="903272"/>
                    <a:pt x="1195537" y="914710"/>
                    <a:pt x="1187104" y="923143"/>
                  </a:cubicBezTo>
                  <a:cubicBezTo>
                    <a:pt x="1178670" y="931576"/>
                    <a:pt x="1167233" y="936314"/>
                    <a:pt x="1155306" y="936314"/>
                  </a:cubicBezTo>
                  <a:lnTo>
                    <a:pt x="44968" y="936314"/>
                  </a:lnTo>
                  <a:cubicBezTo>
                    <a:pt x="33042" y="936314"/>
                    <a:pt x="21604" y="931576"/>
                    <a:pt x="13171" y="923143"/>
                  </a:cubicBezTo>
                  <a:cubicBezTo>
                    <a:pt x="4738" y="914710"/>
                    <a:pt x="0" y="903272"/>
                    <a:pt x="0" y="89134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-85" r="-85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66750" y="838200"/>
            <a:ext cx="6886575" cy="4509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>
                <a:solidFill>
                  <a:srgbClr val="F0F3F7"/>
                </a:solidFill>
                <a:latin typeface="Gilda Display"/>
                <a:ea typeface="Gilda Display"/>
                <a:cs typeface="Gilda Display"/>
                <a:sym typeface="Gilda Display"/>
              </a:rPr>
              <a:t>Data-Driven Solutions for Employee Retention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296400" y="7829550"/>
            <a:ext cx="6886575" cy="940181"/>
            <a:chOff x="0" y="0"/>
            <a:chExt cx="9182100" cy="1253575"/>
          </a:xfrm>
        </p:grpSpPr>
        <p:sp>
          <p:nvSpPr>
            <p:cNvPr id="6" name="TextBox 6"/>
            <p:cNvSpPr txBox="1"/>
            <p:nvPr/>
          </p:nvSpPr>
          <p:spPr>
            <a:xfrm>
              <a:off x="0" y="-9525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67A1D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Leveraging AI to Predict Attrition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779653"/>
              <a:ext cx="9182100" cy="4739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9"/>
                </a:lnSpc>
              </a:pPr>
              <a:r>
                <a:rPr lang="en-US" sz="2199">
                  <a:solidFill>
                    <a:srgbClr val="F0F3F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Using internal HR data for proactive insights.</a:t>
              </a:r>
            </a:p>
          </p:txBody>
        </p:sp>
      </p:grpSp>
      <p:sp>
        <p:nvSpPr>
          <p:cNvPr id="8" name="Freeform 8"/>
          <p:cNvSpPr/>
          <p:nvPr/>
        </p:nvSpPr>
        <p:spPr>
          <a:xfrm rot="-1268288">
            <a:off x="14275228" y="-6577016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437773">
            <a:off x="13770320" y="-6241286"/>
            <a:ext cx="12640239" cy="11904807"/>
          </a:xfrm>
          <a:custGeom>
            <a:avLst/>
            <a:gdLst/>
            <a:ahLst/>
            <a:cxnLst/>
            <a:rect l="l" t="t" r="r" b="b"/>
            <a:pathLst>
              <a:path w="12640239" h="11904807">
                <a:moveTo>
                  <a:pt x="0" y="0"/>
                </a:moveTo>
                <a:lnTo>
                  <a:pt x="12640239" y="0"/>
                </a:lnTo>
                <a:lnTo>
                  <a:pt x="12640239" y="11904806"/>
                </a:lnTo>
                <a:lnTo>
                  <a:pt x="0" y="119048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4077950" cy="2062247"/>
            <a:chOff x="0" y="0"/>
            <a:chExt cx="18770600" cy="2749662"/>
          </a:xfrm>
        </p:grpSpPr>
        <p:sp>
          <p:nvSpPr>
            <p:cNvPr id="4" name="TextBox 4"/>
            <p:cNvSpPr txBox="1"/>
            <p:nvPr/>
          </p:nvSpPr>
          <p:spPr>
            <a:xfrm>
              <a:off x="0" y="171450"/>
              <a:ext cx="18770600" cy="161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F0F3F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Key Elements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130537"/>
              <a:ext cx="187706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67A1D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Understanding the Machine Learning Approach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6750" y="5143500"/>
            <a:ext cx="5448300" cy="3659505"/>
            <a:chOff x="0" y="0"/>
            <a:chExt cx="7264400" cy="4879340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7264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67A1D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Organizational Variables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155700"/>
              <a:ext cx="7264400" cy="3723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05"/>
                </a:lnSpc>
              </a:pPr>
              <a:r>
                <a:rPr lang="en-US" sz="2850" u="none" strike="noStrike">
                  <a:solidFill>
                    <a:srgbClr val="F0F3F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We analyze </a:t>
              </a:r>
              <a:r>
                <a:rPr lang="en-US" sz="2850" b="1" u="none" strike="noStrike">
                  <a:solidFill>
                    <a:srgbClr val="F0F3F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position, department, and seniority</a:t>
              </a:r>
              <a:r>
                <a:rPr lang="en-US" sz="2850" u="none" strike="noStrike">
                  <a:solidFill>
                    <a:srgbClr val="F0F3F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to understand retention patterns, ensuring targeted insights that align with specific roles and their unique challenges within the organization.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419850" y="5143500"/>
            <a:ext cx="5448300" cy="3659505"/>
            <a:chOff x="0" y="0"/>
            <a:chExt cx="7264400" cy="487934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7264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67A1D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Engagement Indicators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155700"/>
              <a:ext cx="7264400" cy="3723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05"/>
                </a:lnSpc>
              </a:pPr>
              <a:r>
                <a:rPr lang="en-US" sz="2850" u="none" strike="noStrike">
                  <a:solidFill>
                    <a:srgbClr val="F0F3F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Employee satisfaction and engagement survey results are vital. By monitoring these </a:t>
              </a:r>
              <a:r>
                <a:rPr lang="en-US" sz="2850" b="1" u="none" strike="noStrike">
                  <a:solidFill>
                    <a:srgbClr val="F0F3F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key metrics</a:t>
              </a:r>
              <a:r>
                <a:rPr lang="en-US" sz="2850" u="none" strike="noStrike">
                  <a:solidFill>
                    <a:srgbClr val="F0F3F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, we can spot trends that indicate potential attrition risks before they escalate.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172950" y="5143500"/>
            <a:ext cx="5448300" cy="3659505"/>
            <a:chOff x="0" y="0"/>
            <a:chExt cx="7264400" cy="487934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"/>
              <a:ext cx="7264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67A1D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Career Context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155700"/>
              <a:ext cx="7264400" cy="3723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05"/>
                </a:lnSpc>
              </a:pPr>
              <a:r>
                <a:rPr lang="en-US" sz="2850" u="none" strike="noStrike">
                  <a:solidFill>
                    <a:srgbClr val="F0F3F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Assessing the </a:t>
              </a:r>
              <a:r>
                <a:rPr lang="en-US" sz="2850" b="1" u="none" strike="noStrike">
                  <a:solidFill>
                    <a:srgbClr val="F0F3F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number of special projects</a:t>
              </a:r>
              <a:r>
                <a:rPr lang="en-US" sz="2850" u="none" strike="noStrike">
                  <a:solidFill>
                    <a:srgbClr val="F0F3F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undertaken by employees helps gauge their growth opportunities, which is crucial for maintaining motivation and reducing turnover rates effectively.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945975">
            <a:off x="-7194258" y="4301490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8"/>
                </a:lnTo>
                <a:lnTo>
                  <a:pt x="0" y="102997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7191375" cy="8953500"/>
            <a:chOff x="0" y="0"/>
            <a:chExt cx="1114132" cy="13871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14132" cy="1387131"/>
            </a:xfrm>
            <a:custGeom>
              <a:avLst/>
              <a:gdLst/>
              <a:ahLst/>
              <a:cxnLst/>
              <a:rect l="l" t="t" r="r" b="b"/>
              <a:pathLst>
                <a:path w="1114132" h="1387131">
                  <a:moveTo>
                    <a:pt x="43062" y="0"/>
                  </a:moveTo>
                  <a:lnTo>
                    <a:pt x="1071070" y="0"/>
                  </a:lnTo>
                  <a:cubicBezTo>
                    <a:pt x="1094853" y="0"/>
                    <a:pt x="1114132" y="19280"/>
                    <a:pt x="1114132" y="43062"/>
                  </a:cubicBezTo>
                  <a:lnTo>
                    <a:pt x="1114132" y="1344069"/>
                  </a:lnTo>
                  <a:cubicBezTo>
                    <a:pt x="1114132" y="1367852"/>
                    <a:pt x="1094853" y="1387131"/>
                    <a:pt x="1071070" y="1387131"/>
                  </a:cubicBezTo>
                  <a:lnTo>
                    <a:pt x="43062" y="1387131"/>
                  </a:lnTo>
                  <a:cubicBezTo>
                    <a:pt x="19280" y="1387131"/>
                    <a:pt x="0" y="1367852"/>
                    <a:pt x="0" y="1344069"/>
                  </a:cubicBezTo>
                  <a:lnTo>
                    <a:pt x="0" y="43062"/>
                  </a:lnTo>
                  <a:cubicBezTo>
                    <a:pt x="0" y="19280"/>
                    <a:pt x="19280" y="0"/>
                    <a:pt x="43062" y="0"/>
                  </a:cubicBezTo>
                  <a:close/>
                </a:path>
              </a:pathLst>
            </a:custGeom>
            <a:blipFill>
              <a:blip r:embed="rId3"/>
              <a:stretch>
                <a:fillRect l="-346" r="-346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296400" y="838173"/>
            <a:ext cx="8324850" cy="3395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>
                <a:solidFill>
                  <a:srgbClr val="F0F3F7"/>
                </a:solidFill>
                <a:latin typeface="Gilda Display"/>
                <a:ea typeface="Gilda Display"/>
                <a:cs typeface="Gilda Display"/>
                <a:sym typeface="Gilda Display"/>
              </a:rPr>
              <a:t>GDPR Compliance &amp; Ethics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13832">
            <a:off x="-4531687" y="6137129"/>
            <a:ext cx="8157874" cy="9711754"/>
          </a:xfrm>
          <a:custGeom>
            <a:avLst/>
            <a:gdLst/>
            <a:ahLst/>
            <a:cxnLst/>
            <a:rect l="l" t="t" r="r" b="b"/>
            <a:pathLst>
              <a:path w="8157874" h="9711754">
                <a:moveTo>
                  <a:pt x="0" y="0"/>
                </a:moveTo>
                <a:lnTo>
                  <a:pt x="8157874" y="0"/>
                </a:lnTo>
                <a:lnTo>
                  <a:pt x="8157874" y="9711754"/>
                </a:lnTo>
                <a:lnTo>
                  <a:pt x="0" y="97117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666750" y="838200"/>
            <a:ext cx="16954500" cy="1166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>
                <a:solidFill>
                  <a:srgbClr val="F0F3F7"/>
                </a:solidFill>
                <a:latin typeface="Gilda Display"/>
                <a:ea typeface="Gilda Display"/>
                <a:cs typeface="Gilda Display"/>
                <a:sym typeface="Gilda Display"/>
              </a:rPr>
              <a:t>GDPR Compliance Principles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96400" y="5143500"/>
            <a:ext cx="8324850" cy="3771900"/>
            <a:chOff x="0" y="0"/>
            <a:chExt cx="11099800" cy="5029200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110998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67A1D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Key Principles for Our Approach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39900"/>
              <a:ext cx="11099800" cy="3289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F0F3F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Lawful basis: Legitimate Interest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F0F3F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Data minimization: Necessary variables only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F0F3F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Transparency: Clear communication with employees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F0F3F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Rights: Enable GDPR rights exercise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156052">
            <a:off x="16339169" y="8003391"/>
            <a:ext cx="5798378" cy="6902831"/>
          </a:xfrm>
          <a:custGeom>
            <a:avLst/>
            <a:gdLst/>
            <a:ahLst/>
            <a:cxnLst/>
            <a:rect l="l" t="t" r="r" b="b"/>
            <a:pathLst>
              <a:path w="5798378" h="6902831">
                <a:moveTo>
                  <a:pt x="0" y="0"/>
                </a:moveTo>
                <a:lnTo>
                  <a:pt x="5798378" y="0"/>
                </a:lnTo>
                <a:lnTo>
                  <a:pt x="5798378" y="6902831"/>
                </a:lnTo>
                <a:lnTo>
                  <a:pt x="0" y="69028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794940" y="1562100"/>
            <a:ext cx="7196660" cy="4819650"/>
            <a:chOff x="0" y="0"/>
            <a:chExt cx="9595546" cy="6426200"/>
          </a:xfrm>
        </p:grpSpPr>
        <p:sp>
          <p:nvSpPr>
            <p:cNvPr id="4" name="TextBox 4"/>
            <p:cNvSpPr txBox="1"/>
            <p:nvPr/>
          </p:nvSpPr>
          <p:spPr>
            <a:xfrm>
              <a:off x="0" y="1155700"/>
              <a:ext cx="9595546" cy="5270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F0F3F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Regular audits for bias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F0F3F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Monitoring fairness across departments and roles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F0F3F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Avoidance of reinforcing inequalities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F0F3F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Continuous improvement of data practices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F0F3F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Employee involvement in feedback loops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9595546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67A1D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Ethical Safeguards in Our Approach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96400" y="1562100"/>
            <a:ext cx="6886575" cy="4324350"/>
            <a:chOff x="0" y="0"/>
            <a:chExt cx="9182100" cy="5765800"/>
          </a:xfrm>
        </p:grpSpPr>
        <p:sp>
          <p:nvSpPr>
            <p:cNvPr id="7" name="TextBox 7"/>
            <p:cNvSpPr txBox="1"/>
            <p:nvPr/>
          </p:nvSpPr>
          <p:spPr>
            <a:xfrm>
              <a:off x="0" y="1155700"/>
              <a:ext cx="9182100" cy="4610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F0F3F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Systematic discrimination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F0F3F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Excessive surveillance or privacy invasion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F0F3F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Unfair automated decisions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F0F3F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Negative impact on workplace culture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F0F3F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Loss of employee trust and engagement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67A1D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Risks We Aim to Avoid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666750"/>
            <a:ext cx="6886575" cy="8953500"/>
            <a:chOff x="0" y="0"/>
            <a:chExt cx="1200275" cy="1560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0275" cy="1560523"/>
            </a:xfrm>
            <a:custGeom>
              <a:avLst/>
              <a:gdLst/>
              <a:ahLst/>
              <a:cxnLst/>
              <a:rect l="l" t="t" r="r" b="b"/>
              <a:pathLst>
                <a:path w="1200275" h="1560523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189" b="-189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8324850" cy="4133849"/>
            <a:chOff x="0" y="0"/>
            <a:chExt cx="11099800" cy="5511799"/>
          </a:xfrm>
        </p:grpSpPr>
        <p:sp>
          <p:nvSpPr>
            <p:cNvPr id="5" name="TextBox 5"/>
            <p:cNvSpPr txBox="1"/>
            <p:nvPr/>
          </p:nvSpPr>
          <p:spPr>
            <a:xfrm>
              <a:off x="0" y="3543299"/>
              <a:ext cx="11099800" cy="1968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F0F3F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Transparency enhances trust, allowing HR to understand and address factors affecting employee retention effectively.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1450"/>
              <a:ext cx="11099800" cy="30983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F0F3F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Explainability &amp; Transparency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13832">
            <a:off x="-4531687" y="6137129"/>
            <a:ext cx="8157874" cy="9711754"/>
          </a:xfrm>
          <a:custGeom>
            <a:avLst/>
            <a:gdLst/>
            <a:ahLst/>
            <a:cxnLst/>
            <a:rect l="l" t="t" r="r" b="b"/>
            <a:pathLst>
              <a:path w="8157874" h="9711754">
                <a:moveTo>
                  <a:pt x="0" y="0"/>
                </a:moveTo>
                <a:lnTo>
                  <a:pt x="8157874" y="0"/>
                </a:lnTo>
                <a:lnTo>
                  <a:pt x="8157874" y="9711754"/>
                </a:lnTo>
                <a:lnTo>
                  <a:pt x="0" y="97117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666750" y="838200"/>
            <a:ext cx="16954500" cy="1166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>
                <a:solidFill>
                  <a:srgbClr val="F0F3F7"/>
                </a:solidFill>
                <a:latin typeface="Gilda Display"/>
                <a:ea typeface="Gilda Display"/>
                <a:cs typeface="Gilda Display"/>
                <a:sym typeface="Gilda Display"/>
              </a:rPr>
              <a:t>Human Oversight &amp; Rights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96400" y="5143500"/>
            <a:ext cx="8324850" cy="3276600"/>
            <a:chOff x="0" y="0"/>
            <a:chExt cx="11099800" cy="4368800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110998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67A1D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Respecting Employees and Decisions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39900"/>
              <a:ext cx="11099800" cy="2628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F0F3F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Tool as decision-support only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F0F3F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Final decisions with HR professionals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F0F3F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Employees informed about the system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F0F3F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GDPR rights fully respected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474064">
            <a:off x="14221481" y="6404997"/>
            <a:ext cx="9086976" cy="8558279"/>
          </a:xfrm>
          <a:custGeom>
            <a:avLst/>
            <a:gdLst/>
            <a:ahLst/>
            <a:cxnLst/>
            <a:rect l="l" t="t" r="r" b="b"/>
            <a:pathLst>
              <a:path w="9086976" h="8558279">
                <a:moveTo>
                  <a:pt x="0" y="0"/>
                </a:moveTo>
                <a:lnTo>
                  <a:pt x="9086976" y="0"/>
                </a:lnTo>
                <a:lnTo>
                  <a:pt x="9086976" y="8558279"/>
                </a:lnTo>
                <a:lnTo>
                  <a:pt x="0" y="85582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0" y="4248150"/>
            <a:ext cx="16182975" cy="6038850"/>
            <a:chOff x="0" y="0"/>
            <a:chExt cx="217815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78150" cy="812800"/>
            </a:xfrm>
            <a:custGeom>
              <a:avLst/>
              <a:gdLst/>
              <a:ahLst/>
              <a:cxnLst/>
              <a:rect l="l" t="t" r="r" b="b"/>
              <a:pathLst>
                <a:path w="2178150" h="812800">
                  <a:moveTo>
                    <a:pt x="19136" y="0"/>
                  </a:moveTo>
                  <a:lnTo>
                    <a:pt x="2159014" y="0"/>
                  </a:lnTo>
                  <a:cubicBezTo>
                    <a:pt x="2169583" y="0"/>
                    <a:pt x="2178150" y="8567"/>
                    <a:pt x="2178150" y="19136"/>
                  </a:cubicBezTo>
                  <a:lnTo>
                    <a:pt x="2178150" y="793664"/>
                  </a:lnTo>
                  <a:cubicBezTo>
                    <a:pt x="2178150" y="804233"/>
                    <a:pt x="2169583" y="812800"/>
                    <a:pt x="2159014" y="812800"/>
                  </a:cubicBezTo>
                  <a:lnTo>
                    <a:pt x="19136" y="812800"/>
                  </a:lnTo>
                  <a:cubicBezTo>
                    <a:pt x="8567" y="812800"/>
                    <a:pt x="0" y="804233"/>
                    <a:pt x="0" y="793664"/>
                  </a:cubicBezTo>
                  <a:lnTo>
                    <a:pt x="0" y="19136"/>
                  </a:lnTo>
                  <a:cubicBezTo>
                    <a:pt x="0" y="8567"/>
                    <a:pt x="8567" y="0"/>
                    <a:pt x="19136" y="0"/>
                  </a:cubicBezTo>
                  <a:close/>
                </a:path>
              </a:pathLst>
            </a:custGeom>
            <a:blipFill>
              <a:blip r:embed="rId3"/>
              <a:stretch>
                <a:fillRect l="-257" r="-257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15516225" cy="2247900"/>
            <a:chOff x="0" y="0"/>
            <a:chExt cx="20688300" cy="2997200"/>
          </a:xfrm>
        </p:grpSpPr>
        <p:sp>
          <p:nvSpPr>
            <p:cNvPr id="6" name="TextBox 6"/>
            <p:cNvSpPr txBox="1"/>
            <p:nvPr/>
          </p:nvSpPr>
          <p:spPr>
            <a:xfrm>
              <a:off x="0" y="171450"/>
              <a:ext cx="20688300" cy="161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F0F3F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Conclusion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378075"/>
              <a:ext cx="206883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3000" b="1">
                  <a:solidFill>
                    <a:srgbClr val="F0F3F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Secure our talent sustainably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365</Words>
  <Application>Microsoft Macintosh PowerPoint</Application>
  <PresentationFormat>Personnalisé</PresentationFormat>
  <Paragraphs>54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9" baseType="lpstr">
      <vt:lpstr>HK Grotesk Light</vt:lpstr>
      <vt:lpstr>Gilda Display</vt:lpstr>
      <vt:lpstr>Arial</vt:lpstr>
      <vt:lpstr>Calibri</vt:lpstr>
      <vt:lpstr>HK Grotesk Bold</vt:lpstr>
      <vt:lpstr>HK Grotesk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- From Reactive to Proactive</dc:title>
  <dc:description>Présentation - From Reactive to Proactive</dc:description>
  <cp:lastModifiedBy>DARGENT Henri</cp:lastModifiedBy>
  <cp:revision>3</cp:revision>
  <dcterms:created xsi:type="dcterms:W3CDTF">2006-08-16T00:00:00Z</dcterms:created>
  <dcterms:modified xsi:type="dcterms:W3CDTF">2026-03-17T11:09:53Z</dcterms:modified>
  <dc:identifier>DAHEM-SB3Y4</dc:identifier>
</cp:coreProperties>
</file>